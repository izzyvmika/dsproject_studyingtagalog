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aleway-italic.fntdata"/><Relationship Id="rId6" Type="http://schemas.openxmlformats.org/officeDocument/2006/relationships/slide" Target="slides/slide1.xml"/><Relationship Id="rId18"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15fd972a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15fd972a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15fd972a1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15fd972a1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18e74224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518e74224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15fd972a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15fd972a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18e74224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18e74224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515fd972a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515fd972a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595959"/>
              </a:buClr>
              <a:buSzPts val="1600"/>
              <a:buFont typeface="Lato"/>
              <a:buChar char="●"/>
            </a:pPr>
            <a:r>
              <a:rPr lang="en" sz="1600">
                <a:solidFill>
                  <a:srgbClr val="595959"/>
                </a:solidFill>
                <a:latin typeface="Lato"/>
                <a:ea typeface="Lato"/>
                <a:cs typeface="Lato"/>
                <a:sym typeface="Lato"/>
              </a:rPr>
              <a:t>Null Hypothesis:  </a:t>
            </a:r>
            <a:endParaRPr sz="1600">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sz="1600">
                <a:solidFill>
                  <a:srgbClr val="595959"/>
                </a:solidFill>
                <a:latin typeface="Lato"/>
                <a:ea typeface="Lato"/>
                <a:cs typeface="Lato"/>
                <a:sym typeface="Lato"/>
              </a:rPr>
              <a:t>	P(correct) = P(wrong). No difference between words understood and not. </a:t>
            </a:r>
            <a:endParaRPr sz="1600">
              <a:solidFill>
                <a:srgbClr val="595959"/>
              </a:solidFill>
              <a:latin typeface="Lato"/>
              <a:ea typeface="Lato"/>
              <a:cs typeface="Lato"/>
              <a:sym typeface="Lato"/>
            </a:endParaRPr>
          </a:p>
          <a:p>
            <a:pPr indent="-330200" lvl="0" marL="457200" rtl="0" algn="l">
              <a:lnSpc>
                <a:spcPct val="115000"/>
              </a:lnSpc>
              <a:spcBef>
                <a:spcPts val="1200"/>
              </a:spcBef>
              <a:spcAft>
                <a:spcPts val="0"/>
              </a:spcAft>
              <a:buClr>
                <a:srgbClr val="595959"/>
              </a:buClr>
              <a:buSzPts val="1600"/>
              <a:buFont typeface="Lato"/>
              <a:buChar char="●"/>
            </a:pPr>
            <a:r>
              <a:rPr lang="en" sz="1600">
                <a:solidFill>
                  <a:srgbClr val="595959"/>
                </a:solidFill>
                <a:latin typeface="Lato"/>
                <a:ea typeface="Lato"/>
                <a:cs typeface="Lato"/>
                <a:sym typeface="Lato"/>
              </a:rPr>
              <a:t>Alternative Hypothesis: </a:t>
            </a:r>
            <a:endParaRPr sz="1600">
              <a:solidFill>
                <a:srgbClr val="595959"/>
              </a:solidFill>
              <a:latin typeface="Lato"/>
              <a:ea typeface="Lato"/>
              <a:cs typeface="Lato"/>
              <a:sym typeface="Lato"/>
            </a:endParaRPr>
          </a:p>
          <a:p>
            <a:pPr indent="0" lvl="0" marL="0" rtl="0" algn="l">
              <a:lnSpc>
                <a:spcPct val="115000"/>
              </a:lnSpc>
              <a:spcBef>
                <a:spcPts val="1200"/>
              </a:spcBef>
              <a:spcAft>
                <a:spcPts val="1200"/>
              </a:spcAft>
              <a:buClr>
                <a:schemeClr val="dk1"/>
              </a:buClr>
              <a:buSzPts val="1100"/>
              <a:buFont typeface="Arial"/>
              <a:buNone/>
            </a:pPr>
            <a:r>
              <a:rPr lang="en" sz="1600">
                <a:solidFill>
                  <a:srgbClr val="595959"/>
                </a:solidFill>
                <a:latin typeface="Lato"/>
                <a:ea typeface="Lato"/>
                <a:cs typeface="Lato"/>
                <a:sym typeface="Lato"/>
              </a:rPr>
              <a:t>	P(correct) &gt; P(wrong). More words understood than not.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18e74224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518e74224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18e74224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18e74224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600">
                <a:solidFill>
                  <a:srgbClr val="595959"/>
                </a:solidFill>
                <a:latin typeface="Lato"/>
                <a:ea typeface="Lato"/>
                <a:cs typeface="Lato"/>
                <a:sym typeface="Lato"/>
              </a:rPr>
              <a:t>Answering: </a:t>
            </a:r>
            <a:r>
              <a:rPr lang="en" sz="1600">
                <a:solidFill>
                  <a:srgbClr val="595959"/>
                </a:solidFill>
                <a:latin typeface="Lato"/>
                <a:ea typeface="Lato"/>
                <a:cs typeface="Lato"/>
                <a:sym typeface="Lato"/>
              </a:rPr>
              <a:t>Is there a measurable improvement over time in the percentage of words I understand from street interviews?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15fd972a1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515fd972a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1-sample proportions test with continuity correction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data:  allY out of totalWords, null probability 0.5</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X-squared = 122.23, df = 1, p-value &lt; 2.2e-16</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alternative hypothesis: true p is greater than 0.5</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95 percent confidence interval: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0.6419931 1.0000000</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sample estimates: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0.6660682</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515fd972a1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515fd972a1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rgbClr val="595959"/>
                </a:solidFill>
                <a:latin typeface="Lato"/>
                <a:ea typeface="Lato"/>
                <a:cs typeface="Lato"/>
                <a:sym typeface="Lato"/>
              </a:rPr>
              <a:t>Caveats:</a:t>
            </a:r>
            <a:endParaRPr sz="1600">
              <a:solidFill>
                <a:srgbClr val="595959"/>
              </a:solidFill>
              <a:latin typeface="Lato"/>
              <a:ea typeface="Lato"/>
              <a:cs typeface="Lato"/>
              <a:sym typeface="Lato"/>
            </a:endParaRPr>
          </a:p>
          <a:p>
            <a:pPr indent="-330200" lvl="0" marL="457200" rtl="0" algn="l">
              <a:lnSpc>
                <a:spcPct val="115000"/>
              </a:lnSpc>
              <a:spcBef>
                <a:spcPts val="1200"/>
              </a:spcBef>
              <a:spcAft>
                <a:spcPts val="0"/>
              </a:spcAft>
              <a:buClr>
                <a:srgbClr val="595959"/>
              </a:buClr>
              <a:buSzPts val="1600"/>
              <a:buFont typeface="Lato"/>
              <a:buChar char="-"/>
            </a:pPr>
            <a:r>
              <a:rPr lang="en" sz="1600">
                <a:solidFill>
                  <a:srgbClr val="595959"/>
                </a:solidFill>
                <a:latin typeface="Lato"/>
                <a:ea typeface="Lato"/>
                <a:cs typeface="Lato"/>
                <a:sym typeface="Lato"/>
              </a:rPr>
              <a:t>I had to throw out 3 days of data </a:t>
            </a:r>
            <a:endParaRPr sz="1600">
              <a:solidFill>
                <a:srgbClr val="595959"/>
              </a:solidFill>
              <a:latin typeface="Lato"/>
              <a:ea typeface="Lato"/>
              <a:cs typeface="Lato"/>
              <a:sym typeface="Lato"/>
            </a:endParaRPr>
          </a:p>
          <a:p>
            <a:pPr indent="-330200" lvl="0" marL="457200" rtl="0" algn="l">
              <a:lnSpc>
                <a:spcPct val="115000"/>
              </a:lnSpc>
              <a:spcBef>
                <a:spcPts val="0"/>
              </a:spcBef>
              <a:spcAft>
                <a:spcPts val="0"/>
              </a:spcAft>
              <a:buClr>
                <a:srgbClr val="595959"/>
              </a:buClr>
              <a:buSzPts val="1600"/>
              <a:buFont typeface="Lato"/>
              <a:buChar char="-"/>
            </a:pPr>
            <a:r>
              <a:rPr lang="en" sz="1600">
                <a:solidFill>
                  <a:srgbClr val="595959"/>
                </a:solidFill>
                <a:latin typeface="Lato"/>
                <a:ea typeface="Lato"/>
                <a:cs typeface="Lato"/>
                <a:sym typeface="Lato"/>
              </a:rPr>
              <a:t>Word frequency is not truly random </a:t>
            </a:r>
            <a:endParaRPr sz="16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 of Studying on Understanding Everyday Conversations in Tagalog</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Izzy Mika - Data Science 211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t>How does</a:t>
            </a:r>
            <a:r>
              <a:rPr i="1" lang="en"/>
              <a:t> studying daily affect how much I can understand from casual conversations?</a:t>
            </a:r>
            <a:endParaRPr i="1"/>
          </a:p>
        </p:txBody>
      </p:sp>
      <p:sp>
        <p:nvSpPr>
          <p:cNvPr id="93" name="Google Shape;93;p14"/>
          <p:cNvSpPr txBox="1"/>
          <p:nvPr>
            <p:ph idx="1" type="body"/>
          </p:nvPr>
        </p:nvSpPr>
        <p:spPr>
          <a:xfrm>
            <a:off x="729450" y="2487825"/>
            <a:ext cx="7928400" cy="2114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Background: I’m a beginner learning Tagalog and am interested in whether studying daily is improving my ability to understand street language.</a:t>
            </a:r>
            <a:br>
              <a:rPr lang="en"/>
            </a:b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After studying daily for 2 weeks, will I understand more words than not?</a:t>
            </a:r>
            <a:endParaRPr/>
          </a:p>
        </p:txBody>
      </p:sp>
      <p:sp>
        <p:nvSpPr>
          <p:cNvPr id="99" name="Google Shape;99;p15"/>
          <p:cNvSpPr txBox="1"/>
          <p:nvPr>
            <p:ph idx="1" type="body"/>
          </p:nvPr>
        </p:nvSpPr>
        <p:spPr>
          <a:xfrm>
            <a:off x="729450" y="2206375"/>
            <a:ext cx="7688700" cy="2540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Definitions:</a:t>
            </a:r>
            <a:endParaRPr/>
          </a:p>
          <a:p>
            <a:pPr indent="-330200" lvl="0" marL="457200" rtl="0" algn="l">
              <a:spcBef>
                <a:spcPts val="1200"/>
              </a:spcBef>
              <a:spcAft>
                <a:spcPts val="0"/>
              </a:spcAft>
              <a:buSzPts val="1600"/>
              <a:buChar char="●"/>
            </a:pPr>
            <a:r>
              <a:rPr lang="en"/>
              <a:t>Studying: studying Tagalog for 20 minutes every day (via LearningTagalog)</a:t>
            </a:r>
            <a:endParaRPr/>
          </a:p>
          <a:p>
            <a:pPr indent="-330200" lvl="0" marL="457200" rtl="0" algn="l">
              <a:spcBef>
                <a:spcPts val="0"/>
              </a:spcBef>
              <a:spcAft>
                <a:spcPts val="0"/>
              </a:spcAft>
              <a:buSzPts val="1600"/>
              <a:buChar char="●"/>
            </a:pPr>
            <a:r>
              <a:rPr lang="en"/>
              <a:t>Casual conversation: Street interviews on the EasyFilipino YouTube channel</a:t>
            </a:r>
            <a:br>
              <a:rPr lang="en"/>
            </a:br>
            <a:endParaRPr/>
          </a:p>
          <a:p>
            <a:pPr indent="-330200" lvl="0" marL="457200" rtl="0" algn="l">
              <a:spcBef>
                <a:spcPts val="0"/>
              </a:spcBef>
              <a:spcAft>
                <a:spcPts val="0"/>
              </a:spcAft>
              <a:buSzPts val="1600"/>
              <a:buAutoNum type="arabicParenR"/>
            </a:pPr>
            <a:r>
              <a:rPr lang="en"/>
              <a:t>Is the proportion of words I understand significantly higher than the proportion of words I don’t?</a:t>
            </a:r>
            <a:endParaRPr/>
          </a:p>
          <a:p>
            <a:pPr indent="-330200" lvl="0" marL="457200" rtl="0" algn="l">
              <a:spcBef>
                <a:spcPts val="0"/>
              </a:spcBef>
              <a:spcAft>
                <a:spcPts val="0"/>
              </a:spcAft>
              <a:buSzPts val="1600"/>
              <a:buAutoNum type="arabicParenR"/>
            </a:pPr>
            <a:r>
              <a:rPr lang="en"/>
              <a:t>Is there a measurable improvement over time in the percentage of words I understand from street interviews?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idx="1" type="body"/>
          </p:nvPr>
        </p:nvSpPr>
        <p:spPr>
          <a:xfrm>
            <a:off x="729450" y="1967500"/>
            <a:ext cx="4524000" cy="295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Observations:</a:t>
            </a:r>
            <a:r>
              <a:rPr lang="en"/>
              <a:t> 1,114 words encountered (from 10 sentences per day for 11 days*)</a:t>
            </a:r>
            <a:br>
              <a:rPr lang="en"/>
            </a:br>
            <a:br>
              <a:rPr lang="en"/>
            </a:br>
            <a:r>
              <a:rPr lang="en"/>
              <a:t>* Studied and tested over 14 days; but had to remove three days because the folks interviewed in one of the EasyFilipino videos were mostly speaking in Binisay, not Tagalog.</a:t>
            </a:r>
            <a:endParaRPr/>
          </a:p>
        </p:txBody>
      </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pic>
        <p:nvPicPr>
          <p:cNvPr id="106" name="Google Shape;106;p16"/>
          <p:cNvPicPr preferRelativeResize="0"/>
          <p:nvPr/>
        </p:nvPicPr>
        <p:blipFill>
          <a:blip r:embed="rId3">
            <a:alphaModFix/>
          </a:blip>
          <a:stretch>
            <a:fillRect/>
          </a:stretch>
        </p:blipFill>
        <p:spPr>
          <a:xfrm>
            <a:off x="5390400" y="1853850"/>
            <a:ext cx="3585749" cy="20268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idx="1" type="body"/>
          </p:nvPr>
        </p:nvSpPr>
        <p:spPr>
          <a:xfrm>
            <a:off x="729450" y="1853850"/>
            <a:ext cx="7811700" cy="306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Variables:</a:t>
            </a:r>
            <a:endParaRPr b="1" sz="1700"/>
          </a:p>
          <a:p>
            <a:pPr indent="-330200" lvl="0" marL="457200" rtl="0" algn="l">
              <a:spcBef>
                <a:spcPts val="1200"/>
              </a:spcBef>
              <a:spcAft>
                <a:spcPts val="0"/>
              </a:spcAft>
              <a:buSzPts val="1600"/>
              <a:buChar char="●"/>
            </a:pPr>
            <a:r>
              <a:rPr b="1" lang="en"/>
              <a:t>Independent</a:t>
            </a:r>
            <a:r>
              <a:rPr lang="en"/>
              <a:t>: How many days I’ve been studying over time (20 min every day)</a:t>
            </a:r>
            <a:endParaRPr/>
          </a:p>
          <a:p>
            <a:pPr indent="-330200" lvl="0" marL="457200" rtl="0" algn="l">
              <a:spcBef>
                <a:spcPts val="0"/>
              </a:spcBef>
              <a:spcAft>
                <a:spcPts val="0"/>
              </a:spcAft>
              <a:buSzPts val="1600"/>
              <a:buChar char="●"/>
            </a:pPr>
            <a:r>
              <a:rPr b="1" lang="en"/>
              <a:t>Dependent</a:t>
            </a:r>
            <a:r>
              <a:rPr lang="en"/>
              <a:t>: % words understood per day (self-report) when listening to 10 full sentences from Easy Filipino interview video*</a:t>
            </a:r>
            <a:endParaRPr/>
          </a:p>
          <a:p>
            <a:pPr indent="-317500" lvl="1" marL="914400" rtl="0" algn="l">
              <a:spcBef>
                <a:spcPts val="0"/>
              </a:spcBef>
              <a:spcAft>
                <a:spcPts val="0"/>
              </a:spcAft>
              <a:buSzPts val="1400"/>
              <a:buChar char="○"/>
            </a:pPr>
            <a:r>
              <a:rPr lang="en"/>
              <a:t>*excluding sentences with &lt;4 words to exclude sentence fragments and fixed phrases (e.g “at the airport.” or “no thanks.”) </a:t>
            </a:r>
            <a:endParaRPr/>
          </a:p>
          <a:p>
            <a:pPr indent="-317500" lvl="1" marL="914400" rtl="0" algn="l">
              <a:spcBef>
                <a:spcPts val="0"/>
              </a:spcBef>
              <a:spcAft>
                <a:spcPts val="0"/>
              </a:spcAft>
              <a:buSzPts val="1400"/>
              <a:buChar char="○"/>
            </a:pPr>
            <a:r>
              <a:rPr lang="en"/>
              <a:t>*excluding proper nouns; English/other language words (“maneho” and “mag-drive” are okay, but “iphone” or “summa cum laude” are not)</a:t>
            </a:r>
            <a:endParaRPr/>
          </a:p>
          <a:p>
            <a:pPr indent="-317500" lvl="1" marL="914400" rtl="0" algn="l">
              <a:spcBef>
                <a:spcPts val="0"/>
              </a:spcBef>
              <a:spcAft>
                <a:spcPts val="0"/>
              </a:spcAft>
              <a:buSzPts val="1400"/>
              <a:buChar char="○"/>
            </a:pPr>
            <a:r>
              <a:rPr lang="en"/>
              <a:t>*excluding most function words (e/g words similar to ‘the’ and ‘at’ etc. like </a:t>
            </a:r>
            <a:r>
              <a:rPr i="1" lang="en"/>
              <a:t>mga</a:t>
            </a:r>
            <a:r>
              <a:rPr lang="en"/>
              <a:t>, </a:t>
            </a:r>
            <a:r>
              <a:rPr i="1" lang="en"/>
              <a:t>sa</a:t>
            </a:r>
            <a:r>
              <a:rPr lang="en"/>
              <a:t>) (extremely common / reducing noise).</a:t>
            </a:r>
            <a:endParaRPr/>
          </a:p>
        </p:txBody>
      </p:sp>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a:t>
            </a:r>
            <a:endParaRPr/>
          </a:p>
        </p:txBody>
      </p:sp>
      <p:sp>
        <p:nvSpPr>
          <p:cNvPr id="118" name="Google Shape;118;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9" name="Google Shape;119;p18"/>
          <p:cNvPicPr preferRelativeResize="0"/>
          <p:nvPr/>
        </p:nvPicPr>
        <p:blipFill>
          <a:blip r:embed="rId3">
            <a:alphaModFix/>
          </a:blip>
          <a:stretch>
            <a:fillRect/>
          </a:stretch>
        </p:blipFill>
        <p:spPr>
          <a:xfrm>
            <a:off x="225875" y="1853850"/>
            <a:ext cx="8624225" cy="3299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25" name="Google Shape;125;p19"/>
          <p:cNvSpPr txBox="1"/>
          <p:nvPr>
            <p:ph idx="1" type="body"/>
          </p:nvPr>
        </p:nvSpPr>
        <p:spPr>
          <a:xfrm>
            <a:off x="729450" y="2078875"/>
            <a:ext cx="79986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arenR"/>
            </a:pPr>
            <a:r>
              <a:rPr lang="en"/>
              <a:t>Define hypotheses:</a:t>
            </a:r>
            <a:endParaRPr/>
          </a:p>
          <a:p>
            <a:pPr indent="0" lvl="0" marL="0" rtl="0" algn="l">
              <a:spcBef>
                <a:spcPts val="1200"/>
              </a:spcBef>
              <a:spcAft>
                <a:spcPts val="0"/>
              </a:spcAft>
              <a:buNone/>
            </a:pPr>
            <a:r>
              <a:rPr b="1" lang="en" sz="3200"/>
              <a:t>H</a:t>
            </a:r>
            <a:r>
              <a:rPr b="1" baseline="-25000" lang="en" sz="3200"/>
              <a:t>0</a:t>
            </a:r>
            <a:r>
              <a:rPr b="1" lang="en" sz="3200"/>
              <a:t>: </a:t>
            </a:r>
            <a:r>
              <a:rPr lang="en" sz="3200"/>
              <a:t>   P</a:t>
            </a:r>
            <a:r>
              <a:rPr baseline="-25000" lang="en" sz="3200"/>
              <a:t>Y</a:t>
            </a:r>
            <a:r>
              <a:rPr lang="en" sz="3200"/>
              <a:t> = P</a:t>
            </a:r>
            <a:r>
              <a:rPr baseline="-25000" lang="en" sz="3200"/>
              <a:t>N</a:t>
            </a:r>
            <a:r>
              <a:rPr baseline="-25000" lang="en" sz="3559"/>
              <a:t> </a:t>
            </a:r>
            <a:r>
              <a:rPr lang="en" sz="3559"/>
              <a:t> </a:t>
            </a:r>
            <a:br>
              <a:rPr lang="en" sz="3559"/>
            </a:br>
            <a:endParaRPr sz="100"/>
          </a:p>
          <a:p>
            <a:pPr indent="0" lvl="0" marL="0" rtl="0" algn="l">
              <a:spcBef>
                <a:spcPts val="1200"/>
              </a:spcBef>
              <a:spcAft>
                <a:spcPts val="1200"/>
              </a:spcAft>
              <a:buNone/>
            </a:pPr>
            <a:r>
              <a:rPr b="1" lang="en" sz="3200"/>
              <a:t>H</a:t>
            </a:r>
            <a:r>
              <a:rPr b="1" baseline="-25000" lang="en" sz="3200"/>
              <a:t>a</a:t>
            </a:r>
            <a:r>
              <a:rPr b="1" lang="en" sz="3200"/>
              <a:t>:</a:t>
            </a:r>
            <a:r>
              <a:rPr lang="en" sz="3200"/>
              <a:t>    P</a:t>
            </a:r>
            <a:r>
              <a:rPr baseline="-25000" lang="en" sz="3200"/>
              <a:t>Y</a:t>
            </a:r>
            <a:r>
              <a:rPr lang="en" sz="3200"/>
              <a:t> &gt; P</a:t>
            </a:r>
            <a:r>
              <a:rPr baseline="-25000" lang="en" sz="3200"/>
              <a:t>N</a:t>
            </a:r>
            <a:endParaRPr sz="3200"/>
          </a:p>
        </p:txBody>
      </p:sp>
      <p:sp>
        <p:nvSpPr>
          <p:cNvPr id="126" name="Google Shape;126;p19"/>
          <p:cNvSpPr txBox="1"/>
          <p:nvPr/>
        </p:nvSpPr>
        <p:spPr>
          <a:xfrm>
            <a:off x="4488525" y="2883200"/>
            <a:ext cx="39567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accent1"/>
                </a:solidFill>
                <a:latin typeface="Lato"/>
                <a:ea typeface="Lato"/>
                <a:cs typeface="Lato"/>
                <a:sym typeface="Lato"/>
              </a:rPr>
              <a:t>P</a:t>
            </a:r>
            <a:r>
              <a:rPr baseline="-25000" lang="en" sz="1600">
                <a:solidFill>
                  <a:schemeClr val="accent1"/>
                </a:solidFill>
                <a:latin typeface="Lato"/>
                <a:ea typeface="Lato"/>
                <a:cs typeface="Lato"/>
                <a:sym typeface="Lato"/>
              </a:rPr>
              <a:t>Y</a:t>
            </a:r>
            <a:r>
              <a:rPr lang="en" sz="1600">
                <a:solidFill>
                  <a:schemeClr val="accent1"/>
                </a:solidFill>
                <a:latin typeface="Lato"/>
                <a:ea typeface="Lato"/>
                <a:cs typeface="Lato"/>
                <a:sym typeface="Lato"/>
              </a:rPr>
              <a:t> - Proportion of correct answers (“Y”) </a:t>
            </a:r>
            <a:br>
              <a:rPr lang="en" sz="1600">
                <a:solidFill>
                  <a:schemeClr val="accent1"/>
                </a:solidFill>
                <a:latin typeface="Lato"/>
                <a:ea typeface="Lato"/>
                <a:cs typeface="Lato"/>
                <a:sym typeface="Lato"/>
              </a:rPr>
            </a:br>
            <a:r>
              <a:rPr lang="en" sz="1600">
                <a:solidFill>
                  <a:schemeClr val="accent1"/>
                </a:solidFill>
                <a:latin typeface="Lato"/>
                <a:ea typeface="Lato"/>
                <a:cs typeface="Lato"/>
                <a:sym typeface="Lato"/>
              </a:rPr>
              <a:t>P</a:t>
            </a:r>
            <a:r>
              <a:rPr baseline="-25000" lang="en" sz="1600">
                <a:solidFill>
                  <a:schemeClr val="accent1"/>
                </a:solidFill>
                <a:latin typeface="Lato"/>
                <a:ea typeface="Lato"/>
                <a:cs typeface="Lato"/>
                <a:sym typeface="Lato"/>
              </a:rPr>
              <a:t>N</a:t>
            </a:r>
            <a:r>
              <a:rPr lang="en" sz="1600">
                <a:solidFill>
                  <a:schemeClr val="accent1"/>
                </a:solidFill>
                <a:latin typeface="Lato"/>
                <a:ea typeface="Lato"/>
                <a:cs typeface="Lato"/>
                <a:sym typeface="Lato"/>
              </a:rPr>
              <a:t> - Proportion of incorrect answers (“N”)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32" name="Google Shape;132;p20"/>
          <p:cNvSpPr txBox="1"/>
          <p:nvPr>
            <p:ph idx="1" type="body"/>
          </p:nvPr>
        </p:nvSpPr>
        <p:spPr>
          <a:xfrm>
            <a:off x="729450" y="2078875"/>
            <a:ext cx="38889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Test hypothesis: Is the proportion of words correct greater than incorrect?</a:t>
            </a:r>
            <a:endParaRPr sz="1400"/>
          </a:p>
          <a:p>
            <a:pPr indent="-317500" lvl="0" marL="457200" rtl="0" algn="l">
              <a:spcBef>
                <a:spcPts val="1200"/>
              </a:spcBef>
              <a:spcAft>
                <a:spcPts val="0"/>
              </a:spcAft>
              <a:buSzPts val="1400"/>
              <a:buChar char="●"/>
            </a:pPr>
            <a:r>
              <a:rPr lang="en" sz="1400"/>
              <a:t>Visually, the words correct is twice as large as the words incorrect</a:t>
            </a:r>
            <a:endParaRPr sz="1400"/>
          </a:p>
          <a:p>
            <a:pPr indent="-317500" lvl="0" marL="457200" rtl="0" algn="l">
              <a:spcBef>
                <a:spcPts val="0"/>
              </a:spcBef>
              <a:spcAft>
                <a:spcPts val="0"/>
              </a:spcAft>
              <a:buSzPts val="1400"/>
              <a:buChar char="●"/>
            </a:pPr>
            <a:r>
              <a:rPr lang="en" sz="1400"/>
              <a:t>742 words correct versus 372 words incorrect</a:t>
            </a:r>
            <a:endParaRPr sz="1400"/>
          </a:p>
        </p:txBody>
      </p:sp>
      <p:pic>
        <p:nvPicPr>
          <p:cNvPr id="133" name="Google Shape;133;p20"/>
          <p:cNvPicPr preferRelativeResize="0"/>
          <p:nvPr/>
        </p:nvPicPr>
        <p:blipFill>
          <a:blip r:embed="rId3">
            <a:alphaModFix/>
          </a:blip>
          <a:stretch>
            <a:fillRect/>
          </a:stretch>
        </p:blipFill>
        <p:spPr>
          <a:xfrm>
            <a:off x="4836976" y="1020375"/>
            <a:ext cx="3801000" cy="359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39" name="Google Shape;139;p21"/>
          <p:cNvSpPr txBox="1"/>
          <p:nvPr>
            <p:ph idx="1" type="body"/>
          </p:nvPr>
        </p:nvSpPr>
        <p:spPr>
          <a:xfrm>
            <a:off x="729450" y="2078875"/>
            <a:ext cx="38889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Test hypothesis: Is the proportion of words correct greater than incorrect?</a:t>
            </a:r>
            <a:endParaRPr sz="1400"/>
          </a:p>
          <a:p>
            <a:pPr indent="0" lvl="0" marL="0" rtl="0" algn="l">
              <a:spcBef>
                <a:spcPts val="1200"/>
              </a:spcBef>
              <a:spcAft>
                <a:spcPts val="0"/>
              </a:spcAft>
              <a:buNone/>
            </a:pPr>
            <a:r>
              <a:rPr lang="en" sz="1400"/>
              <a:t>Line chart shows mild positive trend over time</a:t>
            </a:r>
            <a:endParaRPr sz="1400"/>
          </a:p>
          <a:p>
            <a:pPr indent="-317500" lvl="0" marL="457200" rtl="0" algn="l">
              <a:spcBef>
                <a:spcPts val="1200"/>
              </a:spcBef>
              <a:spcAft>
                <a:spcPts val="0"/>
              </a:spcAft>
              <a:buSzPts val="1400"/>
              <a:buChar char="●"/>
            </a:pPr>
            <a:r>
              <a:rPr b="1" lang="en" sz="1400"/>
              <a:t>Day 1: </a:t>
            </a:r>
            <a:r>
              <a:rPr lang="en" sz="1400"/>
              <a:t>     61%</a:t>
            </a:r>
            <a:endParaRPr sz="1400"/>
          </a:p>
          <a:p>
            <a:pPr indent="-317500" lvl="0" marL="457200" rtl="0" algn="l">
              <a:spcBef>
                <a:spcPts val="0"/>
              </a:spcBef>
              <a:spcAft>
                <a:spcPts val="0"/>
              </a:spcAft>
              <a:buSzPts val="1400"/>
              <a:buChar char="●"/>
            </a:pPr>
            <a:r>
              <a:rPr b="1" lang="en" sz="1400"/>
              <a:t>Day 14:</a:t>
            </a:r>
            <a:r>
              <a:rPr lang="en" sz="1400"/>
              <a:t>   69%</a:t>
            </a:r>
            <a:endParaRPr sz="1400"/>
          </a:p>
          <a:p>
            <a:pPr indent="0" lvl="0" marL="457200" rtl="0" algn="l">
              <a:spcBef>
                <a:spcPts val="1200"/>
              </a:spcBef>
              <a:spcAft>
                <a:spcPts val="1200"/>
              </a:spcAft>
              <a:buNone/>
            </a:pPr>
            <a:r>
              <a:t/>
            </a:r>
            <a:endParaRPr sz="1400"/>
          </a:p>
        </p:txBody>
      </p:sp>
      <p:pic>
        <p:nvPicPr>
          <p:cNvPr id="140" name="Google Shape;140;p21"/>
          <p:cNvPicPr preferRelativeResize="0"/>
          <p:nvPr/>
        </p:nvPicPr>
        <p:blipFill>
          <a:blip r:embed="rId3">
            <a:alphaModFix/>
          </a:blip>
          <a:stretch>
            <a:fillRect/>
          </a:stretch>
        </p:blipFill>
        <p:spPr>
          <a:xfrm>
            <a:off x="5223774" y="1318650"/>
            <a:ext cx="3447874" cy="32609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Hypothesis Testing</a:t>
            </a:r>
            <a:endParaRPr/>
          </a:p>
        </p:txBody>
      </p:sp>
      <p:sp>
        <p:nvSpPr>
          <p:cNvPr id="146" name="Google Shape;146;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 Test hypothesis: </a:t>
            </a:r>
            <a:r>
              <a:rPr lang="en"/>
              <a:t>Is the</a:t>
            </a:r>
            <a:r>
              <a:rPr lang="en"/>
              <a:t> proportion of words correct greater than incorrect?</a:t>
            </a:r>
            <a:endParaRPr/>
          </a:p>
          <a:p>
            <a:pPr indent="0" lvl="0" marL="0" rtl="0" algn="l">
              <a:spcBef>
                <a:spcPts val="1200"/>
              </a:spcBef>
              <a:spcAft>
                <a:spcPts val="0"/>
              </a:spcAft>
              <a:buNone/>
            </a:pPr>
            <a:r>
              <a:rPr lang="en"/>
              <a:t>Using a prop test: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lnSpc>
                <a:spcPct val="100000"/>
              </a:lnSpc>
              <a:spcBef>
                <a:spcPts val="1200"/>
              </a:spcBef>
              <a:spcAft>
                <a:spcPts val="1200"/>
              </a:spcAft>
              <a:buNone/>
            </a:pPr>
            <a:r>
              <a:t/>
            </a:r>
            <a:endParaRPr/>
          </a:p>
        </p:txBody>
      </p:sp>
      <p:grpSp>
        <p:nvGrpSpPr>
          <p:cNvPr id="147" name="Google Shape;147;p22"/>
          <p:cNvGrpSpPr/>
          <p:nvPr/>
        </p:nvGrpSpPr>
        <p:grpSpPr>
          <a:xfrm>
            <a:off x="500015" y="3215912"/>
            <a:ext cx="4954433" cy="1788674"/>
            <a:chOff x="729448" y="2665098"/>
            <a:chExt cx="6137801" cy="2112025"/>
          </a:xfrm>
        </p:grpSpPr>
        <p:pic>
          <p:nvPicPr>
            <p:cNvPr id="148" name="Google Shape;148;p22"/>
            <p:cNvPicPr preferRelativeResize="0"/>
            <p:nvPr/>
          </p:nvPicPr>
          <p:blipFill>
            <a:blip r:embed="rId3">
              <a:alphaModFix/>
            </a:blip>
            <a:stretch>
              <a:fillRect/>
            </a:stretch>
          </p:blipFill>
          <p:spPr>
            <a:xfrm>
              <a:off x="729448" y="2665098"/>
              <a:ext cx="6137801" cy="2112025"/>
            </a:xfrm>
            <a:prstGeom prst="rect">
              <a:avLst/>
            </a:prstGeom>
            <a:noFill/>
            <a:ln>
              <a:noFill/>
            </a:ln>
          </p:spPr>
        </p:pic>
        <p:sp>
          <p:nvSpPr>
            <p:cNvPr id="149" name="Google Shape;149;p22"/>
            <p:cNvSpPr/>
            <p:nvPr/>
          </p:nvSpPr>
          <p:spPr>
            <a:xfrm>
              <a:off x="3404600" y="3348100"/>
              <a:ext cx="1868700" cy="218400"/>
            </a:xfrm>
            <a:prstGeom prst="roundRect">
              <a:avLst>
                <a:gd fmla="val 16667" name="adj"/>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
        <p:nvSpPr>
          <p:cNvPr id="150" name="Google Shape;150;p22"/>
          <p:cNvSpPr txBox="1"/>
          <p:nvPr/>
        </p:nvSpPr>
        <p:spPr>
          <a:xfrm>
            <a:off x="5541625" y="2808451"/>
            <a:ext cx="32247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accent1"/>
                </a:solidFill>
                <a:latin typeface="Lato"/>
                <a:ea typeface="Lato"/>
                <a:cs typeface="Lato"/>
                <a:sym typeface="Lato"/>
              </a:rPr>
              <a:t>p-value =</a:t>
            </a:r>
            <a:r>
              <a:rPr lang="en">
                <a:solidFill>
                  <a:schemeClr val="accent1"/>
                </a:solidFill>
                <a:latin typeface="Lato"/>
                <a:ea typeface="Lato"/>
                <a:cs typeface="Lato"/>
                <a:sym typeface="Lato"/>
              </a:rPr>
              <a:t> 2.2e</a:t>
            </a:r>
            <a:r>
              <a:rPr baseline="30000" lang="en">
                <a:solidFill>
                  <a:schemeClr val="accent1"/>
                </a:solidFill>
                <a:latin typeface="Lato"/>
                <a:ea typeface="Lato"/>
                <a:cs typeface="Lato"/>
                <a:sym typeface="Lato"/>
              </a:rPr>
              <a:t>-16</a:t>
            </a:r>
            <a:r>
              <a:rPr lang="en">
                <a:solidFill>
                  <a:schemeClr val="accent1"/>
                </a:solidFill>
                <a:latin typeface="Lato"/>
                <a:ea typeface="Lato"/>
                <a:cs typeface="Lato"/>
                <a:sym typeface="Lato"/>
              </a:rPr>
              <a:t> &lt; 0.05</a:t>
            </a:r>
            <a:endParaRPr>
              <a:solidFill>
                <a:schemeClr val="accent1"/>
              </a:solidFill>
              <a:latin typeface="Lato"/>
              <a:ea typeface="Lato"/>
              <a:cs typeface="Lato"/>
              <a:sym typeface="Lato"/>
            </a:endParaRPr>
          </a:p>
          <a:p>
            <a:pPr indent="0" lvl="0" marL="0" rtl="0" algn="l">
              <a:lnSpc>
                <a:spcPct val="115000"/>
              </a:lnSpc>
              <a:spcBef>
                <a:spcPts val="1200"/>
              </a:spcBef>
              <a:spcAft>
                <a:spcPts val="1200"/>
              </a:spcAft>
              <a:buNone/>
            </a:pPr>
            <a:r>
              <a:rPr lang="en">
                <a:solidFill>
                  <a:schemeClr val="accent1"/>
                </a:solidFill>
                <a:latin typeface="Lato"/>
                <a:ea typeface="Lato"/>
                <a:cs typeface="Lato"/>
                <a:sym typeface="Lato"/>
              </a:rPr>
              <a:t>The p-value is far less </a:t>
            </a:r>
            <a:r>
              <a:rPr b="1" lang="en">
                <a:solidFill>
                  <a:schemeClr val="accent1"/>
                </a:solidFill>
                <a:latin typeface="Lato"/>
                <a:ea typeface="Lato"/>
                <a:cs typeface="Lato"/>
                <a:sym typeface="Lato"/>
              </a:rPr>
              <a:t>𝛼 = 0.05</a:t>
            </a:r>
            <a:r>
              <a:rPr lang="en">
                <a:solidFill>
                  <a:schemeClr val="accent1"/>
                </a:solidFill>
                <a:latin typeface="Lato"/>
                <a:ea typeface="Lato"/>
                <a:cs typeface="Lato"/>
                <a:sym typeface="Lato"/>
              </a:rPr>
              <a:t>, so we reject the null hypothesis</a:t>
            </a:r>
            <a:r>
              <a:rPr lang="en">
                <a:solidFill>
                  <a:srgbClr val="3B444F"/>
                </a:solidFill>
                <a:highlight>
                  <a:srgbClr val="FFFFFF"/>
                </a:highlight>
                <a:latin typeface="Lato"/>
                <a:ea typeface="Lato"/>
                <a:cs typeface="Lato"/>
                <a:sym typeface="Lato"/>
              </a:rPr>
              <a:t> H</a:t>
            </a:r>
            <a:r>
              <a:rPr baseline="-25000" lang="en">
                <a:solidFill>
                  <a:srgbClr val="3B444F"/>
                </a:solidFill>
                <a:highlight>
                  <a:srgbClr val="FFFFFF"/>
                </a:highlight>
                <a:latin typeface="Lato"/>
                <a:ea typeface="Lato"/>
                <a:cs typeface="Lato"/>
                <a:sym typeface="Lato"/>
              </a:rPr>
              <a:t>0</a:t>
            </a:r>
            <a:r>
              <a:rPr lang="en">
                <a:solidFill>
                  <a:srgbClr val="3B444F"/>
                </a:solidFill>
                <a:highlight>
                  <a:srgbClr val="FFFFFF"/>
                </a:highlight>
                <a:latin typeface="Lato"/>
                <a:ea typeface="Lato"/>
                <a:cs typeface="Lato"/>
                <a:sym typeface="Lato"/>
              </a:rPr>
              <a:t> : P</a:t>
            </a:r>
            <a:r>
              <a:rPr baseline="-25000" lang="en">
                <a:solidFill>
                  <a:srgbClr val="3B444F"/>
                </a:solidFill>
                <a:highlight>
                  <a:srgbClr val="FFFFFF"/>
                </a:highlight>
                <a:latin typeface="Lato"/>
                <a:ea typeface="Lato"/>
                <a:cs typeface="Lato"/>
                <a:sym typeface="Lato"/>
              </a:rPr>
              <a:t>Y</a:t>
            </a:r>
            <a:r>
              <a:rPr lang="en">
                <a:solidFill>
                  <a:srgbClr val="3B444F"/>
                </a:solidFill>
                <a:highlight>
                  <a:srgbClr val="FFFFFF"/>
                </a:highlight>
                <a:latin typeface="Lato"/>
                <a:ea typeface="Lato"/>
                <a:cs typeface="Lato"/>
                <a:sym typeface="Lato"/>
              </a:rPr>
              <a:t> = P</a:t>
            </a:r>
            <a:r>
              <a:rPr baseline="-25000" lang="en">
                <a:solidFill>
                  <a:srgbClr val="3B444F"/>
                </a:solidFill>
                <a:highlight>
                  <a:srgbClr val="FFFFFF"/>
                </a:highlight>
                <a:latin typeface="Lato"/>
                <a:ea typeface="Lato"/>
                <a:cs typeface="Lato"/>
                <a:sym typeface="Lato"/>
              </a:rPr>
              <a:t>N </a:t>
            </a:r>
            <a:br>
              <a:rPr baseline="-25000" lang="en">
                <a:solidFill>
                  <a:srgbClr val="3B444F"/>
                </a:solidFill>
                <a:highlight>
                  <a:srgbClr val="FFFFFF"/>
                </a:highlight>
                <a:latin typeface="Lato"/>
                <a:ea typeface="Lato"/>
                <a:cs typeface="Lato"/>
                <a:sym typeface="Lato"/>
              </a:rPr>
            </a:br>
            <a:r>
              <a:rPr lang="en">
                <a:solidFill>
                  <a:srgbClr val="3B444F"/>
                </a:solidFill>
                <a:highlight>
                  <a:srgbClr val="FFFFFF"/>
                </a:highlight>
                <a:latin typeface="Lato"/>
                <a:ea typeface="Lato"/>
                <a:cs typeface="Lato"/>
                <a:sym typeface="Lato"/>
              </a:rPr>
              <a:t>in favor of the alternative hypothesis, </a:t>
            </a:r>
            <a:r>
              <a:rPr lang="en">
                <a:solidFill>
                  <a:schemeClr val="accent1"/>
                </a:solidFill>
                <a:latin typeface="Lato"/>
                <a:ea typeface="Lato"/>
                <a:cs typeface="Lato"/>
                <a:sym typeface="Lato"/>
              </a:rPr>
              <a:t>H</a:t>
            </a:r>
            <a:r>
              <a:rPr baseline="-25000" lang="en">
                <a:solidFill>
                  <a:schemeClr val="accent1"/>
                </a:solidFill>
                <a:latin typeface="Lato"/>
                <a:ea typeface="Lato"/>
                <a:cs typeface="Lato"/>
                <a:sym typeface="Lato"/>
              </a:rPr>
              <a:t>a</a:t>
            </a:r>
            <a:r>
              <a:rPr lang="en">
                <a:solidFill>
                  <a:schemeClr val="accent1"/>
                </a:solidFill>
                <a:latin typeface="Lato"/>
                <a:ea typeface="Lato"/>
                <a:cs typeface="Lato"/>
                <a:sym typeface="Lato"/>
              </a:rPr>
              <a:t> : P</a:t>
            </a:r>
            <a:r>
              <a:rPr baseline="-25000" lang="en">
                <a:solidFill>
                  <a:schemeClr val="accent1"/>
                </a:solidFill>
                <a:latin typeface="Lato"/>
                <a:ea typeface="Lato"/>
                <a:cs typeface="Lato"/>
                <a:sym typeface="Lato"/>
              </a:rPr>
              <a:t>Y</a:t>
            </a:r>
            <a:r>
              <a:rPr lang="en">
                <a:solidFill>
                  <a:schemeClr val="accent1"/>
                </a:solidFill>
                <a:latin typeface="Lato"/>
                <a:ea typeface="Lato"/>
                <a:cs typeface="Lato"/>
                <a:sym typeface="Lato"/>
              </a:rPr>
              <a:t> &gt; P</a:t>
            </a:r>
            <a:r>
              <a:rPr baseline="-25000" lang="en">
                <a:solidFill>
                  <a:schemeClr val="accent1"/>
                </a:solidFill>
                <a:latin typeface="Lato"/>
                <a:ea typeface="Lato"/>
                <a:cs typeface="Lato"/>
                <a:sym typeface="Lato"/>
              </a:rPr>
              <a:t>N.</a:t>
            </a:r>
            <a:endParaRPr>
              <a:solidFill>
                <a:schemeClr val="accent1"/>
              </a:solidFill>
              <a:latin typeface="Lato"/>
              <a:ea typeface="Lato"/>
              <a:cs typeface="Lato"/>
              <a:sym typeface="Lato"/>
            </a:endParaRPr>
          </a:p>
        </p:txBody>
      </p:sp>
      <p:pic>
        <p:nvPicPr>
          <p:cNvPr id="151" name="Google Shape;151;p22"/>
          <p:cNvPicPr preferRelativeResize="0"/>
          <p:nvPr/>
        </p:nvPicPr>
        <p:blipFill>
          <a:blip r:embed="rId4">
            <a:alphaModFix/>
          </a:blip>
          <a:stretch>
            <a:fillRect/>
          </a:stretch>
        </p:blipFill>
        <p:spPr>
          <a:xfrm>
            <a:off x="500025" y="2875575"/>
            <a:ext cx="4781524" cy="284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idx="1" type="body"/>
          </p:nvPr>
        </p:nvSpPr>
        <p:spPr>
          <a:xfrm>
            <a:off x="729450" y="1782050"/>
            <a:ext cx="7764600" cy="2557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Using the results of the prop test, we can </a:t>
            </a:r>
            <a:r>
              <a:rPr b="1" lang="en"/>
              <a:t>reject the null hypothesis </a:t>
            </a:r>
            <a:r>
              <a:rPr lang="en"/>
              <a:t>in favor of the alternative, which is that I understood more words than I missed over time. </a:t>
            </a:r>
            <a:endParaRPr/>
          </a:p>
          <a:p>
            <a:pPr indent="0" lvl="0" marL="0" rtl="0" algn="l">
              <a:spcBef>
                <a:spcPts val="1200"/>
              </a:spcBef>
              <a:spcAft>
                <a:spcPts val="1200"/>
              </a:spcAft>
              <a:buNone/>
            </a:pPr>
            <a:r>
              <a:rPr lang="en"/>
              <a:t>There is some additional evidence to support the alternative, e.g. the mild positive trend over time, but more data points are needed to convincingly argue that studying caused me to understand more words!</a:t>
            </a:r>
            <a:br>
              <a:rPr lang="en"/>
            </a:br>
            <a:br>
              <a:rPr lang="en"/>
            </a:br>
            <a:r>
              <a:rPr lang="en"/>
              <a:t>The improvement would likely be greater if the method &amp; target were more specific. LearningTagalog focuses on teaching core vocab &amp; grammar from the start, but many content words in the EasyFilipino video series are specific to a topic.</a:t>
            </a:r>
            <a:endParaRPr/>
          </a:p>
        </p:txBody>
      </p:sp>
      <p:sp>
        <p:nvSpPr>
          <p:cNvPr id="157" name="Google Shape;157;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58" name="Google Shape;158;p23"/>
          <p:cNvSpPr txBox="1"/>
          <p:nvPr/>
        </p:nvSpPr>
        <p:spPr>
          <a:xfrm>
            <a:off x="826850" y="4372800"/>
            <a:ext cx="5824200" cy="7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Github Repository: </a:t>
            </a:r>
            <a:r>
              <a:rPr lang="en" sz="1300">
                <a:solidFill>
                  <a:schemeClr val="accent1"/>
                </a:solidFill>
                <a:latin typeface="Lato"/>
                <a:ea typeface="Lato"/>
                <a:cs typeface="Lato"/>
                <a:sym typeface="Lato"/>
              </a:rPr>
              <a:t>https://github.com/izzyvmika/DSProject_StudyingTagalog/tree/main</a:t>
            </a:r>
            <a:endParaRPr sz="1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